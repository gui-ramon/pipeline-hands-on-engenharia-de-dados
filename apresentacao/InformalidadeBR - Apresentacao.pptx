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34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C2E124-23B9-4976-935F-C650255EDC03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F77E25-1248-48C9-9916-85754E52BB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527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F77E25-1248-48C9-9916-85754E52BB1E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376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slide" Target="slide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slide" Target="slide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github.com/SynkraAI/aiox-cor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laude.com/claude-code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slide" Target="slide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i-ramon/pipeline-hands-on-engenharia-de-dado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CK_vertical_vermelh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1051560" cy="7394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PÓS-GRADUAÇÃO EM ENGENHARIA DE DADOS · MACKENZIE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87782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A1A1A"/>
                </a:solidFill>
                <a:latin typeface="Arial"/>
              </a:rPr>
              <a:t>InformalidadeBR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589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6E6E6E"/>
                </a:solidFill>
                <a:latin typeface="Arial"/>
              </a:rPr>
              <a:t>Prevendo o trabalho informal no Brasil a partir de dados públicos da PNAD Contínua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3840480" cy="13970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257800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Jefferson Aparecido Nunes Lopes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Guilherme Ramon Santos Camargo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Bruno Roberto Muniz Cabral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Quase metade dos trabalhadores ocupados no Brasil está na informalidade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B0029"/>
                </a:solidFill>
                <a:latin typeface="Arial"/>
              </a:rPr>
              <a:t>47,6%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dos 2.522.338 trabalhadores ocupados analisados, PNAD Contínua 2023 a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65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34840" y="207568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0872" y="21671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Sem proteção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6060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Sem carteira assinada, sem CNPJ, sem contribuição ao INSS.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965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01000" y="207568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2" y="21671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Sem acesso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26060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Sem crédito, sem benefícios, sem direitos trabalhistas básicos.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52044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434840" y="363016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372160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Distribuição desigual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416052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Não é acaso: concentra-se por setor, região, gênero e raça.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352044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01000" y="363016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7032" y="372160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Um problema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2" y="416052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Estrutural no mercado de trabalho brasileiro, não um recorte marginal.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62356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50020"/>
                </a:solidFill>
                <a:latin typeface="Arial"/>
              </a:rPr>
              <a:t>É esse padrão, nos dados, que o projeto tenta prever e explicar.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Prever quem está na informalidade e entender quem ela mais afeta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60120" y="2395728"/>
            <a:ext cx="566928" cy="566928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4984" y="3090672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401568"/>
            <a:ext cx="2852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Prever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913632"/>
            <a:ext cx="285292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 um trabalhador está na informalidade, a partir de características observáveis (escolaridade, setor, região...).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720" y="2395728"/>
            <a:ext cx="566928" cy="566928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72584" y="3090672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17720" y="3401568"/>
            <a:ext cx="2852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Explicar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13632"/>
            <a:ext cx="285292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Quais fatores mais pesam nessa condição, não só o quê, mas por quê.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275320" y="2395728"/>
            <a:ext cx="566928" cy="566928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4" y="3090672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320" y="3401568"/>
            <a:ext cx="2852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Medir equidade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913632"/>
            <a:ext cx="285292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 o modelo trata igualmente todos os grupos, gênero e raça, não só a média geral.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PNAD Contínua, a maior pesquisa domiciliar do Brasil, direto do IBGE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trimestres
2023 – 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~500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registros por
trimestre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2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22 / 420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variáveis selecionadas
por relevância direta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154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fonte pública única
(FTP do IBGE)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4340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1A1A"/>
                </a:solidFill>
                <a:latin typeface="Arial"/>
              </a:rPr>
              <a:t>• Microdados de largura fixa, exatamente como publicados pelo IBGE</a:t>
            </a:r>
          </a:p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1A1A"/>
                </a:solidFill>
                <a:latin typeface="Arial"/>
              </a:rPr>
              <a:t>• Cada período baixado com retentativa automática</a:t>
            </a:r>
          </a:p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1A1A"/>
                </a:solidFill>
                <a:latin typeface="Arial"/>
              </a:rPr>
              <a:t>• Validado por manifesto (checksum SHA-256 + contagem de linhas) antes de qualquer análise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Preparação dos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De microdados brutos a uma base curada, em três camadas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65176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Dados brutos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90088"/>
            <a:ext cx="28437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Como recebidos do IBGE, sem transformação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42232" y="2679192"/>
            <a:ext cx="548640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75488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75488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2212848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65176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Decodificados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2990088"/>
            <a:ext cx="28437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Nulos tratados, 0 linhas perdidas na consolidação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74152" y="2679192"/>
            <a:ext cx="548640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680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68680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0" y="2212848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265176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Base pronta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2990088"/>
            <a:ext cx="28437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Filtro de ocupados + variável-alvo `informal`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794760"/>
            <a:ext cx="5230368" cy="2450592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85800" y="3904488"/>
            <a:ext cx="54864" cy="2231136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2" y="3977640"/>
            <a:ext cx="4773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80">
                <a:solidFill>
                  <a:srgbClr val="EB0029"/>
                </a:solidFill>
                <a:latin typeface="Arial"/>
              </a:rPr>
              <a:t>DA SILVER À GOLD: O FILTRO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4361688"/>
            <a:ext cx="4773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1A"/>
                </a:solidFill>
                <a:latin typeface="Arial"/>
              </a:rPr>
              <a:t>5.748.375  →  2.522.338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4855464"/>
            <a:ext cx="4773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linhas na Silver  →  pessoas ocupadas na Gold (43,9% retido)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276088"/>
            <a:ext cx="477316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• Único filtro aplicado: VD4002 = 1 (pessoa ocupada). Sem isso,</a:t>
            </a:r>
          </a:p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  "informalidade" nem está definida para a pessoa</a:t>
            </a:r>
          </a:p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• Dos 2.522.338 ocupados, 47,6% são informais pela regra ao lado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1928" y="3794760"/>
            <a:ext cx="5230368" cy="2450592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3977640"/>
            <a:ext cx="4773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60">
                <a:solidFill>
                  <a:srgbClr val="B50020"/>
                </a:solidFill>
                <a:latin typeface="Arial"/>
              </a:rPr>
              <a:t>OBS: O QUE É "INFORMAL" AQUI?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416552"/>
            <a:ext cx="4773168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Sem carteira assinada (privado, doméstico ou público), OU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trabalhador familiar sem remuneração, OU empregador/conta-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própria sem CNPJ.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577840"/>
            <a:ext cx="477316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>
                <a:solidFill>
                  <a:srgbClr val="6E6E6E"/>
                </a:solidFill>
                <a:latin typeface="Arial"/>
              </a:rPr>
              <a:t>Regra VD4009 do IBGE (com V4019 de desempate p/ empregador/conta-própria), a mesma que o IBGE usa em estudos oficiais de informalidade.</a:t>
            </a:r>
          </a:p>
        </p:txBody>
      </p:sp>
      <p:sp>
        <p:nvSpPr>
          <p:cNvPr id="36" name="Oval 35">
            <a:hlinkClick r:id="rId3" action="ppaction://hlinksldjump"/>
          </p:cNvPr>
          <p:cNvSpPr/>
          <p:nvPr/>
        </p:nvSpPr>
        <p:spPr>
          <a:xfrm>
            <a:off x="5413248" y="393192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37" name="Oval 36">
            <a:hlinkClick r:id="rId4" action="ppaction://hlinksldjump"/>
          </p:cNvPr>
          <p:cNvSpPr/>
          <p:nvPr/>
        </p:nvSpPr>
        <p:spPr>
          <a:xfrm>
            <a:off x="11009376" y="393192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Análise Exploratória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Tamanho do negócio e vínculo temporário são os sinais mais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06 / 12</a:t>
            </a:r>
          </a:p>
        </p:txBody>
      </p:sp>
      <p:pic>
        <p:nvPicPr>
          <p:cNvPr id="9" name="Picture 8" descr="fig_eda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6949440" cy="33718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92440" y="21488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6E6E6E"/>
                </a:solidFill>
                <a:latin typeface="Arial"/>
              </a:rPr>
              <a:t>FORÇA DE ASSOCIAÇÃO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51460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com a condição de informalidade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20040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V de Cramér / ponto-bisserial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65760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092440" y="3767328"/>
            <a:ext cx="54864" cy="147218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48472" y="3794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A1A1A"/>
                </a:solidFill>
                <a:latin typeface="Arial"/>
              </a:rPr>
              <a:t>O TRABALHADOR INFORMAL, EM NÚMEROS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4187952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53% não concluíram o ensino médio (25% entre os formais)</a:t>
            </a:r>
          </a:p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35% moram no Nordeste (20% entre os formais)</a:t>
            </a:r>
          </a:p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Renda mediana 42% menor: R$ 1.400 x R$ 2.400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413248"/>
            <a:ext cx="10817352" cy="896112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504688"/>
            <a:ext cx="8961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70">
                <a:solidFill>
                  <a:srgbClr val="EB0029"/>
                </a:solidFill>
                <a:latin typeface="Arial"/>
              </a:rPr>
              <a:t>DECISÃO DE VARIÁVEIS, A MAIS DIFÍCIL DO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742432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>
                <a:solidFill>
                  <a:srgbClr val="1A1A1A"/>
                </a:solidFill>
                <a:latin typeface="Arial"/>
              </a:rPr>
              <a:t>• 22 das 420 variáveis da PNAD entraram no pré-processamento por relevância direta; 15 seguiram para o modelo</a:t>
            </a:r>
          </a:p>
          <a:p>
            <a:pPr algn="l">
              <a:lnSpc>
                <a:spcPct val="120000"/>
              </a:lnSpc>
            </a:pPr>
            <a:r>
              <a:rPr sz="980" b="0">
                <a:solidFill>
                  <a:srgbClr val="1A1A1A"/>
                </a:solidFill>
                <a:latin typeface="Arial"/>
              </a:rPr>
              <a:t>• Sexo e raça entraram por escopo obrigatório do projeto (RF-06), não por força estatística</a:t>
            </a:r>
          </a:p>
          <a:p>
            <a:pPr algn="l">
              <a:lnSpc>
                <a:spcPct val="120000"/>
              </a:lnSpc>
            </a:pPr>
            <a:r>
              <a:rPr sz="980" b="0">
                <a:solidFill>
                  <a:srgbClr val="1A1A1A"/>
                </a:solidFill>
                <a:latin typeface="Arial"/>
              </a:rPr>
              <a:t>• Fora do modelo: variáveis que constroem o próprio alvo, renda (vazamento circular) e chaves de deduplicação</a:t>
            </a:r>
          </a:p>
        </p:txBody>
      </p:sp>
      <p:sp>
        <p:nvSpPr>
          <p:cNvPr id="20" name="Oval 19">
            <a:hlinkClick r:id="rId4" action="ppaction://hlinksldjump"/>
          </p:cNvPr>
          <p:cNvSpPr/>
          <p:nvPr/>
        </p:nvSpPr>
        <p:spPr>
          <a:xfrm>
            <a:off x="11082528" y="3730752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Um pipeline completo, do dado bruto à predição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828800" cy="1664208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606040" y="1645920"/>
            <a:ext cx="6016752" cy="1664208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851392" y="1645920"/>
            <a:ext cx="2788920" cy="1664208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2395728" y="2478024"/>
            <a:ext cx="19202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8641080" y="2478024"/>
            <a:ext cx="19202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83080"/>
            <a:ext cx="1554480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spc="40">
                <a:solidFill>
                  <a:srgbClr val="FFFFFF"/>
                </a:solidFill>
                <a:latin typeface="Arial"/>
              </a:rPr>
              <a:t>FONTE</a:t>
            </a:r>
          </a:p>
        </p:txBody>
      </p:sp>
      <p:pic>
        <p:nvPicPr>
          <p:cNvPr id="16" name="Picture 15" descr="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377440"/>
            <a:ext cx="646304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2944368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PNAD Contínua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1783080"/>
            <a:ext cx="5742432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92" y="1837944"/>
            <a:ext cx="27539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10128" y="1783080"/>
            <a:ext cx="50566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30">
                <a:solidFill>
                  <a:srgbClr val="FFFFFF"/>
                </a:solidFill>
                <a:latin typeface="Arial"/>
              </a:rPr>
              <a:t>Pipeline Python</a:t>
            </a:r>
          </a:p>
        </p:txBody>
      </p:sp>
      <p:sp>
        <p:nvSpPr>
          <p:cNvPr id="21" name="Can 20"/>
          <p:cNvSpPr/>
          <p:nvPr/>
        </p:nvSpPr>
        <p:spPr>
          <a:xfrm>
            <a:off x="3111703" y="2331720"/>
            <a:ext cx="411480" cy="502920"/>
          </a:xfrm>
          <a:prstGeom prst="can">
            <a:avLst/>
          </a:prstGeom>
          <a:solidFill>
            <a:srgbClr val="CD7F32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0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BRONZE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772814" y="2478024"/>
            <a:ext cx="23774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an 23"/>
          <p:cNvSpPr/>
          <p:nvPr/>
        </p:nvSpPr>
        <p:spPr>
          <a:xfrm>
            <a:off x="4260189" y="2331720"/>
            <a:ext cx="411480" cy="502920"/>
          </a:xfrm>
          <a:prstGeom prst="can">
            <a:avLst/>
          </a:prstGeom>
          <a:solidFill>
            <a:srgbClr val="B8B8B8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91686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SILVER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921300" y="2478024"/>
            <a:ext cx="23774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an 26"/>
          <p:cNvSpPr/>
          <p:nvPr/>
        </p:nvSpPr>
        <p:spPr>
          <a:xfrm>
            <a:off x="5408676" y="2331720"/>
            <a:ext cx="411480" cy="502920"/>
          </a:xfrm>
          <a:prstGeom prst="can">
            <a:avLst/>
          </a:prstGeom>
          <a:solidFill>
            <a:srgbClr val="C99A2C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40172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GOLD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69787" y="2478024"/>
            <a:ext cx="23774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7162" y="2331720"/>
            <a:ext cx="246888" cy="246888"/>
          </a:xfrm>
          <a:prstGeom prst="ellipse">
            <a:avLst/>
          </a:prstGeom>
          <a:noFill/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 rot="2700000">
            <a:off x="6737763" y="2584329"/>
            <a:ext cx="205740" cy="61722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8659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EDA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099401" y="2478024"/>
            <a:ext cx="290779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445044" y="2258568"/>
            <a:ext cx="932688" cy="987552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682788" y="2633472"/>
            <a:ext cx="9753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862620" y="2485339"/>
            <a:ext cx="97536" cy="395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42452" y="2331720"/>
            <a:ext cx="97536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37145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88552" y="1783080"/>
            <a:ext cx="2514600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88552" y="1783080"/>
            <a:ext cx="2514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spc="40">
                <a:solidFill>
                  <a:srgbClr val="FFFFFF"/>
                </a:solidFill>
                <a:latin typeface="Arial"/>
              </a:rPr>
              <a:t>ENTREGA</a:t>
            </a:r>
          </a:p>
        </p:txBody>
      </p:sp>
      <p:sp>
        <p:nvSpPr>
          <p:cNvPr id="41" name="Oval 40"/>
          <p:cNvSpPr/>
          <p:nvPr/>
        </p:nvSpPr>
        <p:spPr>
          <a:xfrm>
            <a:off x="9971532" y="2286000"/>
            <a:ext cx="548640" cy="548640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552" y="294436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Resultados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42900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pandas · scikit-learn · SHAP · classes `Etapa` → `Pipeline`, cada etapa executável isoladamente ou em cadeia.</a:t>
            </a:r>
          </a:p>
        </p:txBody>
      </p:sp>
      <p:pic>
        <p:nvPicPr>
          <p:cNvPr id="44" name="Picture 43" descr="clau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30752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51560" y="3712463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>
                <a:solidFill>
                  <a:srgbClr val="6E6E6E"/>
                </a:solidFill>
                <a:latin typeface="Arial"/>
              </a:rPr>
              <a:t>Auxiliares no desenvolvimento: </a:t>
            </a:r>
            <a:r>
              <a:rPr sz="1050">
                <a:solidFill>
                  <a:srgbClr val="6E6E6E"/>
                </a:solidFill>
                <a:latin typeface="Arial"/>
                <a:hlinkClick r:id="rId6"/>
              </a:rPr>
              <a:t>Claude Code</a:t>
            </a:r>
            <a:r>
              <a:rPr sz="1050">
                <a:solidFill>
                  <a:srgbClr val="6E6E6E"/>
                </a:solidFill>
                <a:latin typeface="Arial"/>
              </a:rPr>
              <a:t> · </a:t>
            </a:r>
            <a:r>
              <a:rPr sz="1050">
                <a:solidFill>
                  <a:srgbClr val="6E6E6E"/>
                </a:solidFill>
                <a:latin typeface="Arial"/>
                <a:hlinkClick r:id="rId7"/>
              </a:rPr>
              <a:t>framework AIOX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343400"/>
            <a:ext cx="1081735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• Dados brutos do IBGE, tratados em três camadas — Bronze, Silver, Gold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• Análise exploratória revela os sinais mais fortes de informalidade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• Modelo treinado, validado e interpretável via SHAP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Três modelos avaliados sob a mesma regra de validação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5800" y="2212848"/>
            <a:ext cx="54864" cy="174650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304288"/>
            <a:ext cx="29443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Regressão Logística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294436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Baseline interpretável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Sanity check dos outros dois modelos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43400" y="2212848"/>
            <a:ext cx="54864" cy="174650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9432" y="2304288"/>
            <a:ext cx="29443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743200"/>
            <a:ext cx="294436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Robusto, custo controlado por amostra/árvore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O mais lento dos três em treino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01000" y="2212848"/>
            <a:ext cx="54864" cy="174650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2" y="2304288"/>
            <a:ext cx="29443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HistGradientBoosting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43200"/>
            <a:ext cx="294436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Lida nativamente com categórica e nulo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O mais rápido dos dois modelos fortes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343400"/>
            <a:ext cx="10817352" cy="155448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B50020"/>
                </a:solidFill>
                <a:latin typeface="Arial"/>
              </a:rPr>
              <a:t>SPLIT
TEMPORAL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4617720"/>
            <a:ext cx="4815840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44840" y="4617720"/>
            <a:ext cx="2407920" cy="50292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29000" y="4617720"/>
            <a:ext cx="481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2023 – 2024  ·  TREINO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4840" y="4617720"/>
            <a:ext cx="2407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2025 · TESTE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5257800"/>
            <a:ext cx="7223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Nunca ao acaso: a PNAD é um painel rotativo, e um split aleatório vazaria a mesma pessoa entre treino e teste.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Interpretabilidade e Equidade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O modelo é interpretável, e isso expôs uma desigualdade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09 / 12</a:t>
            </a:r>
          </a:p>
        </p:txBody>
      </p:sp>
      <p:pic>
        <p:nvPicPr>
          <p:cNvPr id="9" name="Picture 8" descr="fig_shap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6309360" cy="30612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5780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SHAP: o que mais pesou na decisão do modelo campeão</a:t>
            </a:r>
          </a:p>
        </p:txBody>
      </p:sp>
      <p:pic>
        <p:nvPicPr>
          <p:cNvPr id="11" name="Picture 10" descr="fig_equid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965960"/>
            <a:ext cx="2652963" cy="2880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269480" y="5074920"/>
            <a:ext cx="4251960" cy="123444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79" y="5230368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dirty="0">
                <a:solidFill>
                  <a:srgbClr val="B50020"/>
                </a:solidFill>
                <a:latin typeface="Arial"/>
              </a:rPr>
              <a:t>Recall 12 p.p.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menor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para o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grupo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Amarelos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(n = 4.214): um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sinal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de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atenção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real,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registrado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no Model Card,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não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motivo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para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descartar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o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modelo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92,6% de AUC-ROC no ano que o modelo nunca viu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783080"/>
          <a:ext cx="10817352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AUC-ROC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Tempo (s)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HistGradientBoosting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0.8474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0.8384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0.8360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0.8372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99A2C"/>
                          </a:solidFill>
                          <a:latin typeface="Arial"/>
                        </a:rPr>
                        <a:t>0.9261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178.70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0.8355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0.8123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0.8446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0.8281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0.9166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99A2C"/>
                          </a:solidFill>
                          <a:latin typeface="Arial"/>
                        </a:rPr>
                        <a:t>2171.53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Regressão Logística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0.8259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99A2C"/>
                          </a:solidFill>
                          <a:latin typeface="Arial"/>
                        </a:rPr>
                        <a:t>0.7995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0.8397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0.8191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0.9011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41.67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24612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Campeão: HistGradientBoosting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75887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Arial"/>
              </a:rPr>
              <a:t>• Acerta 84 de cada 100 informais reais, sem overfitting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Arial"/>
              </a:rPr>
              <a:t>• O mais rápido dos dois modelos fortes: 3 min contra 36 min do Random Forest</a:t>
            </a:r>
          </a:p>
        </p:txBody>
      </p:sp>
      <p:pic>
        <p:nvPicPr>
          <p:cNvPr id="12" name="Picture 11" descr="fig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279" y="3063240"/>
            <a:ext cx="4834874" cy="34985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3064" y="1453896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spc="40">
                <a:solidFill>
                  <a:srgbClr val="6E6E6E"/>
                </a:solidFill>
                <a:latin typeface="Arial"/>
              </a:rPr>
              <a:t>MATRIZES DE CONFUSÃO</a:t>
            </a:r>
          </a:p>
        </p:txBody>
      </p:sp>
      <p:sp>
        <p:nvSpPr>
          <p:cNvPr id="14" name="Oval 13">
            <a:hlinkClick r:id="rId4" action="ppaction://hlinksldjump"/>
          </p:cNvPr>
          <p:cNvSpPr/>
          <p:nvPr/>
        </p:nvSpPr>
        <p:spPr>
          <a:xfrm>
            <a:off x="11000232" y="137160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dirty="0">
                <a:solidFill>
                  <a:srgbClr val="6E6E6E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Conclusão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Sobre a informalidade, sobre o processo, e se o objetivo foi atingido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817352" cy="86868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10287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B50020"/>
                </a:solidFill>
                <a:latin typeface="Arial"/>
              </a:rPr>
              <a:t>A informalidade não é um detalhe estatístico: é quase metade do mercado de trabalho brasileiro, distribuída de forma desigual entre região, setor e cor. Foi esse padrão que motivou todo o projeto.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8036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85800" y="2990088"/>
            <a:ext cx="54864" cy="2798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30815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1A1A1A"/>
                </a:solidFill>
                <a:latin typeface="Arial"/>
              </a:rPr>
              <a:t>SOBRE A INFORMALIDADE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410712"/>
            <a:ext cx="29718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dirty="0">
                <a:solidFill>
                  <a:srgbClr val="EB0029"/>
                </a:solidFill>
                <a:latin typeface="Arial Black"/>
              </a:rPr>
              <a:t>47,6%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49624"/>
            <a:ext cx="2971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1A1A1A"/>
                </a:solidFill>
                <a:latin typeface="Arial"/>
              </a:rPr>
              <a:t>dos ocupados analisados estão na informalidade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270248"/>
            <a:ext cx="29718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1" dirty="0">
                <a:solidFill>
                  <a:srgbClr val="1A1A1A"/>
                </a:solidFill>
                <a:latin typeface="Arial"/>
              </a:rPr>
              <a:t>• </a:t>
            </a:r>
            <a:r>
              <a:rPr sz="1100" b="1" dirty="0" err="1">
                <a:solidFill>
                  <a:srgbClr val="1A1A1A"/>
                </a:solidFill>
                <a:latin typeface="Arial"/>
              </a:rPr>
              <a:t>Concentrada</a:t>
            </a:r>
            <a:r>
              <a:rPr sz="1100" b="1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em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quem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não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tem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instrução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na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agropecuária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e no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Nordeste</a:t>
            </a:r>
            <a:endParaRPr sz="1100" b="0" dirty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100" b="1" dirty="0">
                <a:solidFill>
                  <a:srgbClr val="1A1A1A"/>
                </a:solidFill>
                <a:latin typeface="Arial"/>
              </a:rPr>
              <a:t>• </a:t>
            </a:r>
            <a:r>
              <a:rPr sz="1100" b="1" dirty="0" err="1">
                <a:solidFill>
                  <a:srgbClr val="1A1A1A"/>
                </a:solidFill>
                <a:latin typeface="Arial"/>
              </a:rPr>
              <a:t>Renda</a:t>
            </a:r>
            <a:r>
              <a:rPr sz="1100" b="1" dirty="0">
                <a:solidFill>
                  <a:srgbClr val="1A1A1A"/>
                </a:solidFill>
                <a:latin typeface="Arial"/>
              </a:rPr>
              <a:t> 42% </a:t>
            </a:r>
            <a:r>
              <a:rPr sz="1100" b="1" dirty="0" err="1">
                <a:solidFill>
                  <a:srgbClr val="1A1A1A"/>
                </a:solidFill>
                <a:latin typeface="Arial"/>
              </a:rPr>
              <a:t>menor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— é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consequência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não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causa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88036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79976" y="2990088"/>
            <a:ext cx="54864" cy="2798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36008" y="30815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1A1A1A"/>
                </a:solidFill>
                <a:latin typeface="Arial"/>
              </a:rPr>
              <a:t>DIFICULDADES DO PROJETO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3410712"/>
            <a:ext cx="2971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dirty="0">
                <a:solidFill>
                  <a:srgbClr val="EB0029"/>
                </a:solidFill>
                <a:latin typeface="Arial Black"/>
              </a:rPr>
              <a:t>5,7M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3849624"/>
            <a:ext cx="2971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1A1A1A"/>
                </a:solidFill>
                <a:latin typeface="Arial"/>
              </a:rPr>
              <a:t>linhas na base bruta — volume que já era um desafio de engenharia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4233672"/>
            <a:ext cx="2971800" cy="14138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 dirty="0" smtClean="0">
                <a:solidFill>
                  <a:srgbClr val="1A1A1A"/>
                </a:solidFill>
                <a:latin typeface="Arial"/>
              </a:rPr>
              <a:t>• Volume: 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quase 6 milhões de linhas exigiram cuidado com o desempenho. </a:t>
            </a:r>
            <a:endParaRPr lang="pt-BR" sz="1050" dirty="0" smtClean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sz="1050" b="1" dirty="0" smtClean="0">
                <a:solidFill>
                  <a:srgbClr val="1A1A1A"/>
                </a:solidFill>
                <a:latin typeface="Arial"/>
              </a:rPr>
              <a:t>• </a:t>
            </a:r>
            <a:r>
              <a:rPr sz="1050" b="1" dirty="0" err="1" smtClean="0">
                <a:solidFill>
                  <a:srgbClr val="1A1A1A"/>
                </a:solidFill>
                <a:latin typeface="Arial"/>
              </a:rPr>
              <a:t>Seleção</a:t>
            </a:r>
            <a:r>
              <a:rPr sz="1050" b="1" dirty="0" smtClean="0">
                <a:solidFill>
                  <a:srgbClr val="1A1A1A"/>
                </a:solidFill>
                <a:latin typeface="Arial"/>
              </a:rPr>
              <a:t> de </a:t>
            </a:r>
            <a:r>
              <a:rPr sz="1050" b="1" dirty="0" err="1" smtClean="0">
                <a:solidFill>
                  <a:srgbClr val="1A1A1A"/>
                </a:solidFill>
                <a:latin typeface="Arial"/>
              </a:rPr>
              <a:t>variáveis</a:t>
            </a:r>
            <a:r>
              <a:rPr sz="1050" b="1" dirty="0" smtClean="0">
                <a:solidFill>
                  <a:srgbClr val="1A1A1A"/>
                </a:solidFill>
                <a:latin typeface="Arial"/>
              </a:rPr>
              <a:t>: 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foi necessário selecionar as mais relevantes entre 420 opções. </a:t>
            </a:r>
            <a:endParaRPr lang="pt-BR" sz="1050" dirty="0" smtClean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lang="pt-BR" sz="1050" b="1" dirty="0">
                <a:solidFill>
                  <a:srgbClr val="1A1A1A"/>
                </a:solidFill>
                <a:latin typeface="Arial"/>
              </a:rPr>
              <a:t>• M</a:t>
            </a:r>
            <a:r>
              <a:rPr lang="pt-BR" sz="1050" b="1" dirty="0" smtClean="0">
                <a:solidFill>
                  <a:srgbClr val="1A1A1A"/>
                </a:solidFill>
                <a:latin typeface="Arial"/>
              </a:rPr>
              <a:t>odelagem: 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Recall 12 </a:t>
            </a:r>
            <a:r>
              <a:rPr lang="pt-BR" sz="1050" dirty="0" err="1">
                <a:solidFill>
                  <a:srgbClr val="1A1A1A"/>
                </a:solidFill>
                <a:latin typeface="Arial"/>
              </a:rPr>
              <a:t>p.p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. menor para o grupo Amarelos</a:t>
            </a:r>
            <a:endParaRPr lang="pt-BR" sz="1050" dirty="0" smtClean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endParaRPr lang="pt-BR" sz="1050" dirty="0" smtClean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074152" y="288036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74152" y="2990088"/>
            <a:ext cx="54864" cy="2798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0184" y="30815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1A1A1A"/>
                </a:solidFill>
                <a:latin typeface="Arial"/>
              </a:rPr>
              <a:t>O OBJETIVO FOI ATINGIDO?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3410712"/>
            <a:ext cx="29718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0029"/>
                </a:solidFill>
                <a:latin typeface="Arial Black"/>
              </a:rPr>
              <a:t>3 de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0184" y="3849624"/>
            <a:ext cx="2971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1A1A1A"/>
                </a:solidFill>
                <a:latin typeface="Arial"/>
              </a:rPr>
              <a:t>objetivos atingidos: prever, explicar, medir equidade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270248"/>
            <a:ext cx="29718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A1A1A"/>
                </a:solidFill>
                <a:latin typeface="Arial"/>
              </a:rPr>
              <a:t>✓ Prever — </a:t>
            </a:r>
            <a:r>
              <a:rPr sz="1100" b="0">
                <a:solidFill>
                  <a:srgbClr val="1A1A1A"/>
                </a:solidFill>
                <a:latin typeface="Arial"/>
              </a:rPr>
              <a:t>AUC 0,93 no ano que o modelo nunca viu</a:t>
            </a:r>
          </a:p>
          <a:p>
            <a:pPr>
              <a:lnSpc>
                <a:spcPct val="125000"/>
              </a:lnSpc>
            </a:pPr>
            <a:r>
              <a:rPr sz="1100" b="1">
                <a:solidFill>
                  <a:srgbClr val="1A1A1A"/>
                </a:solidFill>
                <a:latin typeface="Arial"/>
              </a:rPr>
              <a:t>✓ Explicar — </a:t>
            </a:r>
            <a:r>
              <a:rPr sz="1100" b="0">
                <a:solidFill>
                  <a:srgbClr val="1A1A1A"/>
                </a:solidFill>
                <a:latin typeface="Arial"/>
              </a:rPr>
              <a:t>SHAP confirma os mesmos fatores da EDA</a:t>
            </a:r>
          </a:p>
          <a:p>
            <a:pPr>
              <a:lnSpc>
                <a:spcPct val="125000"/>
              </a:lnSpc>
            </a:pPr>
            <a:r>
              <a:rPr sz="1100" b="1">
                <a:solidFill>
                  <a:srgbClr val="1A1A1A"/>
                </a:solidFill>
                <a:latin typeface="Arial"/>
              </a:rPr>
              <a:t>✓ Medir equidade — </a:t>
            </a:r>
            <a:r>
              <a:rPr sz="1100" b="0">
                <a:solidFill>
                  <a:srgbClr val="1A1A1A"/>
                </a:solidFill>
                <a:latin typeface="Arial"/>
              </a:rPr>
              <a:t>sim, e revelou um problema real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CK_horizontal_branca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1463040" cy="5853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468880"/>
            <a:ext cx="9144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5204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Arial"/>
              </a:rPr>
              <a:t>Perguntas?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3840480" cy="13970"/>
          </a:xfrm>
          <a:prstGeom prst="rect">
            <a:avLst/>
          </a:prstGeom>
          <a:solidFill>
            <a:srgbClr val="FF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212080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Jefferson Aparecido Nunes Lopes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Guilherme Ramon Santos Camargo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Bruno Roberto Muniz Cabral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63093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>
                <a:solidFill>
                  <a:srgbClr val="FFD8DD"/>
                </a:solidFill>
                <a:latin typeface="Arial"/>
                <a:hlinkClick r:id="rId3"/>
              </a:rPr>
              <a:t>github.com/gui-ramon/pipeline-hands-on-engenharia-de-dados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O funil completo: de 12 arquivos brutos a 2,52M de pessoas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12 arquivos, ~19 GB brutos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0" y="1709928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08483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5.748.375 linhas decodificadas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1709928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08483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2.522.338 ocupados (43,9%)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146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60">
                <a:solidFill>
                  <a:srgbClr val="6E6E6E"/>
                </a:solidFill>
                <a:latin typeface="Arial"/>
              </a:rPr>
              <a:t>De onde vêm os 2,52 milhões de pessoas ocupadas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2880360"/>
          <a:ext cx="1081735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% da base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Idade média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% mulheres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Menores de 14 anos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1.026.870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6,9 anos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Fora da força de trabalho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2.022.961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49,0 anos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Desocupados, buscando trabalho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176.206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32,9 anos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Ocupados (população do projeto)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2.522.338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40,9 anos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5800" y="502920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B50020"/>
                </a:solidFill>
                <a:latin typeface="Arial"/>
              </a:rPr>
              <a:t>O grupo fora da força de trabalho tem 64% de mulheres, e os desocupados buscando emprego, 53%. Os dois acima do 43% entre ocupados: quem decide entrar no mercado de trabalho já não é uma amostra aleatória da população.</a:t>
            </a:r>
          </a:p>
        </p:txBody>
      </p:sp>
      <p:sp>
        <p:nvSpPr>
          <p:cNvPr id="21" name="Oval 20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A regra completa de informalidade (VD4009 + V4019)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828800"/>
          <a:ext cx="10817352" cy="379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5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05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VD4009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Categoria (posição na ocupação)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Classificação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privado, com carteira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privado, sem carteira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Trabalhador doméstico, com carteira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Trabalhador doméstico, sem carteira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público, com carteira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público, sem carteira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Militar / servidor estatutário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 se tem CNPJ (V4019), senão 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Conta-própria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 se tem CNPJ (V4019), senão Informal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498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Trabalhador familiar auxiliar (não remunerado)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80644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Alternativa mais simples considerada (não usada): VD4012 (contribui para a previdência?) como proxy binário direto, descartada por perder o refinamento de CNPJ em 8/9.</a:t>
            </a:r>
          </a:p>
        </p:txBody>
      </p:sp>
      <p:sp>
        <p:nvSpPr>
          <p:cNvPr id="10" name="Oval 9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Por que essas 15 variáveis, e não as outras 405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783080"/>
          <a:ext cx="6720840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Var.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 que é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Força (V de Cramér / |r|)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V4018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Tamanho do negócio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0.570 forte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V4025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É temporário?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0.460 forte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VD4010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Setor de atividade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0.404 forte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VD4011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Grupamento ocupacional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0.373 forte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VD3004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Nível de instrução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0.325 moderada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VD4031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Horas semanais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0.272 moderada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V1022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Urbano / rural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0.255 moderada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UF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0.243 moderada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V4040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Tempo no emprego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0.144 fraca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V1023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Tipo de área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0.135 fraca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V2010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Raça / cor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0.118 fraca (obrigatória RF-06)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VD2002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Posição no domicílio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0.042 muito fraca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V2009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Idade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0.042 muito fraca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VD2003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Pessoas no domicílio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0.030 muito fraca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V2007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Sexo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0.026 fraca (obrigatória RF-06)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1783080"/>
            <a:ext cx="3886200" cy="4160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35240" y="1892808"/>
            <a:ext cx="54864" cy="3941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1984248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O que ficou de fora, e por quê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2423160"/>
            <a:ext cx="342900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91272" y="2468880"/>
            <a:ext cx="34290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Já diz a resposta: </a:t>
            </a:r>
            <a:r>
              <a:rPr sz="1250" b="0">
                <a:solidFill>
                  <a:srgbClr val="1A1A1A"/>
                </a:solidFill>
                <a:latin typeface="Arial"/>
              </a:rPr>
              <a:t>tem variável que já diz se a pessoa é informal. Usar ela seria trapaça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Consequência, não causa: </a:t>
            </a:r>
            <a:r>
              <a:rPr sz="1250" b="0">
                <a:solidFill>
                  <a:srgbClr val="1A1A1A"/>
                </a:solidFill>
                <a:latin typeface="Arial"/>
              </a:rPr>
              <a:t>a renda ficou de fora por isso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Só identifica: </a:t>
            </a:r>
            <a:r>
              <a:rPr sz="1250" b="0">
                <a:solidFill>
                  <a:srgbClr val="1A1A1A"/>
                </a:solidFill>
                <a:latin typeface="Arial"/>
              </a:rPr>
              <a:t>tem código que só serve pra achar pessoa ou domicílio, não diz nada sobre o problema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Coisa da pesquisa: </a:t>
            </a:r>
            <a:r>
              <a:rPr sz="1250" b="0">
                <a:solidFill>
                  <a:srgbClr val="1A1A1A"/>
                </a:solidFill>
                <a:latin typeface="Arial"/>
              </a:rPr>
              <a:t>ano, trimestre e peso amostral não são da pessoa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Quase não muda nada: </a:t>
            </a:r>
            <a:r>
              <a:rPr sz="1250" b="0">
                <a:solidFill>
                  <a:srgbClr val="1A1A1A"/>
                </a:solidFill>
                <a:latin typeface="Arial"/>
              </a:rPr>
              <a:t>ir à escola quase não muda a chance de ser informal</a:t>
            </a:r>
          </a:p>
        </p:txBody>
      </p:sp>
      <p:sp>
        <p:nvSpPr>
          <p:cNvPr id="14" name="Oval 13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sosceles Triangle 14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Matrizes de confusão: teste 2025, base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pic>
        <p:nvPicPr>
          <p:cNvPr id="8" name="Picture 7" descr="fig_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74519"/>
            <a:ext cx="10515600" cy="35107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6692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864.940 pessoas no teste. Falso negativo (informal previsto como formal) é o erro mais custoso para o objetivo do projeto: subestima o tamanho real da informalidade.</a:t>
            </a:r>
          </a:p>
        </p:txBody>
      </p:sp>
      <p:sp>
        <p:nvSpPr>
          <p:cNvPr id="10" name="Oval 9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ANÁLISE EXPLORATÓRIA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Sem instrução e agropecuária concentram a informalidade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Arial"/>
              </a:rPr>
              <a:t>Cada barra mostra quantas vezes a categoria é mais comum num grupo do que no outro (escala logarítmica). Cor só nos 3 casos mais extremos — o resto fica em cinza, perto do equilíbrio (linha central = 1x).</a:t>
            </a:r>
          </a:p>
        </p:txBody>
      </p:sp>
      <p:pic>
        <p:nvPicPr>
          <p:cNvPr id="9" name="Picture 8" descr="fig_eda_ind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6263640" cy="4375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69480" y="1783080"/>
            <a:ext cx="4233672" cy="128016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0" y="1883664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B0029"/>
                </a:solidFill>
                <a:latin typeface="Arial"/>
              </a:rPr>
              <a:t>5,0x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514600"/>
            <a:ext cx="37764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Arial"/>
              </a:rPr>
              <a:t>mais informalidade entre quem não tem instrução (5% dos informais, 1% dos formais)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3200400"/>
            <a:ext cx="4233672" cy="128016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3300984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B0029"/>
                </a:solidFill>
                <a:latin typeface="Arial"/>
              </a:rPr>
              <a:t>4,0x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3931920"/>
            <a:ext cx="37764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Arial"/>
              </a:rPr>
              <a:t>mais informalidade na agropecuária, pesca e aquicultura (24% x 6% entre os formais)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4526280"/>
            <a:ext cx="4233672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461772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60">
                <a:solidFill>
                  <a:srgbClr val="6E6E6E"/>
                </a:solidFill>
                <a:latin typeface="Arial"/>
              </a:rPr>
              <a:t>RENDA MEDIANA</a:t>
            </a:r>
          </a:p>
        </p:txBody>
      </p:sp>
      <p:pic>
        <p:nvPicPr>
          <p:cNvPr id="18" name="Picture 17" descr="fig_eda_ren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828032"/>
            <a:ext cx="3566160" cy="11262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98080" y="6053328"/>
            <a:ext cx="37764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Arial"/>
              </a:rPr>
              <a:t>Informal ganha 42% menos. Não entra no modelo: é consequência da informalidade, não causa.</a:t>
            </a:r>
          </a:p>
        </p:txBody>
      </p:sp>
      <p:sp>
        <p:nvSpPr>
          <p:cNvPr id="20" name="Oval 19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sosceles Triangle 20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1816</Words>
  <Application>Microsoft Office PowerPoint</Application>
  <PresentationFormat>Widescreen</PresentationFormat>
  <Paragraphs>346</Paragraphs>
  <Slides>17</Slides>
  <Notes>1</Notes>
  <HiddenSlides>5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Gui</cp:lastModifiedBy>
  <cp:revision>2</cp:revision>
  <dcterms:created xsi:type="dcterms:W3CDTF">2013-01-27T09:14:16Z</dcterms:created>
  <dcterms:modified xsi:type="dcterms:W3CDTF">2026-09-16T04:46:37Z</dcterms:modified>
  <cp:category/>
</cp:coreProperties>
</file>