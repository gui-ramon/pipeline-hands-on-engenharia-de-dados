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3.xml"/><Relationship Id="rId4" Type="http://schemas.openxmlformats.org/officeDocument/2006/relationships/slide" Target="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" Target="slide17.xml"/><Relationship Id="rId5" Type="http://schemas.openxmlformats.org/officeDocument/2006/relationships/slide" Target="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slide" Target="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CK_vertical_vermelh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640"/>
            <a:ext cx="1051560" cy="7394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3317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50">
                <a:solidFill>
                  <a:srgbClr val="EB0029"/>
                </a:solidFill>
                <a:latin typeface="Arial"/>
              </a:rPr>
              <a:t>PÓS-GRADUAÇÃO EM ENGENHARIA DE DADOS · MACKENZIE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A1A1A"/>
                </a:solidFill>
                <a:latin typeface="Arial"/>
              </a:rPr>
              <a:t>InformalidadeBR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7589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6E6E6E"/>
                </a:solidFill>
                <a:latin typeface="Arial"/>
              </a:rPr>
              <a:t>Prevendo o trabalho informal no Brasil a partir de dados públicos da PNAD Contínua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74920"/>
            <a:ext cx="3840480" cy="13970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2578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1A1A1A"/>
                </a:solidFill>
                <a:latin typeface="Arial"/>
              </a:rPr>
              <a:t>Jefferson Aparecido Nunes Lopes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1A1A1A"/>
                </a:solidFill>
                <a:latin typeface="Arial"/>
              </a:rPr>
              <a:t>Guilherme Ramon Santos Camargo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1A1A1A"/>
                </a:solidFill>
                <a:latin typeface="Arial"/>
              </a:rPr>
              <a:t>Bruno Roberto Muniz Cabral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verme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Arial"/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6E6E6E"/>
                </a:solidFill>
                <a:latin typeface="Arial"/>
              </a:rPr>
              <a:t>Quase metade dos trabalhadores ocupados no Brasil está na informalidade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6E6E6E"/>
                </a:solidFill>
                <a:latin typeface="Arial"/>
              </a:rPr>
              <a:t>InformalidadeBR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02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EB0029"/>
                </a:solidFill>
                <a:latin typeface="Arial"/>
              </a:rPr>
              <a:t>47,6%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E6E"/>
                </a:solidFill>
                <a:latin typeface="Arial"/>
              </a:rPr>
              <a:t>dos 2.522.338 trabalhadores ocupados analisados, PNAD Contínua 2023 a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965960"/>
            <a:ext cx="54864" cy="141732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1671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1A1A"/>
                </a:solidFill>
                <a:latin typeface="Arial"/>
              </a:rPr>
              <a:t>Sem proteção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60604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Arial"/>
              </a:rPr>
              <a:t>Sem carteira assinada, sem CNPJ, sem contribuição ao INSS.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96596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965960"/>
            <a:ext cx="54864" cy="141732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1671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1A1A"/>
                </a:solidFill>
                <a:latin typeface="Arial"/>
              </a:rPr>
              <a:t>Sem acesso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60604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Arial"/>
              </a:rPr>
              <a:t>Sem crédito, sem benefícios, sem direitos trabalhistas básicos.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52044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3520440"/>
            <a:ext cx="54864" cy="141732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37216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1A1A"/>
                </a:solidFill>
                <a:latin typeface="Arial"/>
              </a:rPr>
              <a:t>Distribuição desigual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416052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Arial"/>
              </a:rPr>
              <a:t>Não é acaso: concentra-se por setor, região, gênero e raça.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352044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3520440"/>
            <a:ext cx="54864" cy="141732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2" y="37216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1A1A"/>
                </a:solidFill>
                <a:latin typeface="Arial"/>
              </a:rPr>
              <a:t>Um problema real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416052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Arial"/>
              </a:rPr>
              <a:t>Estrutural no mercado de trabalho brasileiro, não um recorte marginal.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235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50020"/>
                </a:solidFill>
                <a:latin typeface="Arial"/>
              </a:rPr>
              <a:t>É esse padrão, nos dados, que o projeto tenta prever e explicar.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verme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Arial"/>
              </a:rP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6E6E6E"/>
                </a:solidFill>
                <a:latin typeface="Arial"/>
              </a:rPr>
              <a:t>Prever quem está na informalidade e entender quem ela mais afeta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6E6E6E"/>
                </a:solidFill>
                <a:latin typeface="Arial"/>
              </a:rPr>
              <a:t>InformalidadeBR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03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3401568" cy="338328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CE9EB"/>
                </a:solidFill>
                <a:latin typeface="Arial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246120"/>
            <a:ext cx="457200" cy="381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01568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</a:rPr>
              <a:t>Prever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13632"/>
            <a:ext cx="28529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E6E6E"/>
                </a:solidFill>
                <a:latin typeface="Arial"/>
              </a:rPr>
              <a:t>Se um trabalhador está na informalidade, a partir de características observáveis (escolaridade, setor, região...).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401568" cy="338328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395728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CE9EB"/>
                </a:solidFill>
                <a:latin typeface="Arial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3246120"/>
            <a:ext cx="457200" cy="381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401568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</a:rPr>
              <a:t>Explicar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13632"/>
            <a:ext cx="28529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E6E6E"/>
                </a:solidFill>
                <a:latin typeface="Arial"/>
              </a:rPr>
              <a:t>Quais fatores mais pesam nessa condição, não só o quê, mas por quê.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148840"/>
            <a:ext cx="3401568" cy="338328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395728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CE9EB"/>
                </a:solidFill>
                <a:latin typeface="Arial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3246120"/>
            <a:ext cx="457200" cy="381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401568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</a:rPr>
              <a:t>Medir equidade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913632"/>
            <a:ext cx="28529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E6E6E"/>
                </a:solidFill>
                <a:latin typeface="Arial"/>
              </a:rPr>
              <a:t>Se o modelo trata igualmente todos os grupos, gênero e raça, não só a média geral.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55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6E6E6E"/>
                </a:solidFill>
                <a:latin typeface="Arial"/>
              </a:rPr>
              <a:t>InformalidadeBR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verme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Arial"/>
              </a:rPr>
              <a:t>Os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6E6E6E"/>
                </a:solidFill>
                <a:latin typeface="Arial"/>
              </a:rPr>
              <a:t>PNAD Contínua, a maior pesquisa domiciliar do Brasil, direto do IBGE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6E6E6E"/>
                </a:solidFill>
                <a:latin typeface="Arial"/>
              </a:rPr>
              <a:t>InformalidadeBR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04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2606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EB0029"/>
                </a:solidFill>
                <a:latin typeface="Arial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E6E6E"/>
                </a:solidFill>
                <a:latin typeface="Arial"/>
              </a:rPr>
              <a:t>trimestres
2023 –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1031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395728"/>
            <a:ext cx="2606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EB0029"/>
                </a:solidFill>
                <a:latin typeface="Arial"/>
              </a:rPr>
              <a:t>~500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004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E6E6E"/>
                </a:solidFill>
                <a:latin typeface="Arial"/>
              </a:rPr>
              <a:t>registros por
trimestre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031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395728"/>
            <a:ext cx="2606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EB0029"/>
                </a:solidFill>
                <a:latin typeface="Arial"/>
              </a:rPr>
              <a:t>22 / 420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2004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E6E6E"/>
                </a:solidFill>
                <a:latin typeface="Arial"/>
              </a:rPr>
              <a:t>variáveis selecionadas
por relevância direta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1031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2395728"/>
            <a:ext cx="2606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EB0029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2004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E6E6E"/>
                </a:solidFill>
                <a:latin typeface="Arial"/>
              </a:rPr>
              <a:t>fonte pública única
(FTP do IBGE)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434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A1A1A"/>
                </a:solidFill>
                <a:latin typeface="Arial"/>
              </a:rPr>
              <a:t>Microdados de largura fixa, exatamente como publicados pelo IBGE. Cada período baixado com retentativa automática e validado por manifesto (checksum SHA-256 e contagem de linhas), para detectar corrupção antes de qualquer análise.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verme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Arial"/>
              </a:rPr>
              <a:t>Preparação dos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6E6E6E"/>
                </a:solidFill>
                <a:latin typeface="Arial"/>
              </a:rPr>
              <a:t>De microdados brutos a uma base curada, em três camadas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6E6E6E"/>
                </a:solidFill>
                <a:latin typeface="Arial"/>
              </a:rPr>
              <a:t>InformalidadeBR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05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3246120" cy="384048"/>
          </a:xfrm>
          <a:prstGeom prst="roundRect">
            <a:avLst>
              <a:gd name="adj" fmla="val 6000"/>
            </a:avLst>
          </a:prstGeom>
          <a:solidFill>
            <a:srgbClr val="CD7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spc="120">
                <a:solidFill>
                  <a:srgbClr val="FFFFFF"/>
                </a:solidFill>
                <a:latin typeface="Arial"/>
              </a:rPr>
              <a:t>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51760"/>
            <a:ext cx="2843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Arial"/>
              </a:rPr>
              <a:t>Dados brutos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990088"/>
            <a:ext cx="2843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6E6E6E"/>
                </a:solidFill>
                <a:latin typeface="Arial"/>
              </a:rPr>
              <a:t>Como recebidos do IBGE, sem transformação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42232" y="2679192"/>
            <a:ext cx="548640" cy="365760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214884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54880" y="2148840"/>
            <a:ext cx="3246120" cy="384048"/>
          </a:xfrm>
          <a:prstGeom prst="roundRect">
            <a:avLst>
              <a:gd name="adj" fmla="val 6000"/>
            </a:avLst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212848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spc="120">
                <a:solidFill>
                  <a:srgbClr val="FFFFFF"/>
                </a:solidFill>
                <a:latin typeface="Arial"/>
              </a:rPr>
              <a:t>SILVER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2651760"/>
            <a:ext cx="2843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Arial"/>
              </a:rPr>
              <a:t>Decodificados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2990088"/>
            <a:ext cx="2843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6E6E6E"/>
                </a:solidFill>
                <a:latin typeface="Arial"/>
              </a:rPr>
              <a:t>Nulos tratados, 0 linhas perdidas na consolidação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74152" y="2679192"/>
            <a:ext cx="548640" cy="365760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0" y="214884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0" y="2148840"/>
            <a:ext cx="3246120" cy="384048"/>
          </a:xfrm>
          <a:prstGeom prst="roundRect">
            <a:avLst>
              <a:gd name="adj" fmla="val 6000"/>
            </a:avLst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212848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spc="120">
                <a:solidFill>
                  <a:srgbClr val="FFFFFF"/>
                </a:solidFill>
                <a:latin typeface="Arial"/>
              </a:rPr>
              <a:t>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651760"/>
            <a:ext cx="2843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Arial"/>
              </a:rPr>
              <a:t>Base pronta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2990088"/>
            <a:ext cx="2843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6E6E6E"/>
                </a:solidFill>
                <a:latin typeface="Arial"/>
              </a:rPr>
              <a:t>Filtro de ocupados + variável-alvo `informal`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794760"/>
            <a:ext cx="5230368" cy="2450592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3794760"/>
            <a:ext cx="54864" cy="2450592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3977640"/>
            <a:ext cx="4773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80">
                <a:solidFill>
                  <a:srgbClr val="EB0029"/>
                </a:solidFill>
                <a:latin typeface="Arial"/>
              </a:rPr>
              <a:t>DA SILVER À GOLD: O FILTRO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4361688"/>
            <a:ext cx="47731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1A1A"/>
                </a:solidFill>
                <a:latin typeface="Arial"/>
              </a:rPr>
              <a:t>5.748.375  →  2.522.338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4855464"/>
            <a:ext cx="4773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6E6E"/>
                </a:solidFill>
                <a:latin typeface="Arial"/>
              </a:rPr>
              <a:t>linhas na Silver  →  pessoas ocupadas na Gold (43,9% retido)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5276088"/>
            <a:ext cx="477316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>
                <a:solidFill>
                  <a:srgbClr val="1A1A1A"/>
                </a:solidFill>
                <a:latin typeface="Arial"/>
              </a:rPr>
              <a:t>• Único filtro aplicado: VD4002 = 1 (pessoa ocupada). Sem isso,</a:t>
            </a:r>
          </a:p>
          <a:p>
            <a:pPr algn="l">
              <a:lnSpc>
                <a:spcPct val="120000"/>
              </a:lnSpc>
            </a:pPr>
            <a:r>
              <a:rPr sz="1080" b="0">
                <a:solidFill>
                  <a:srgbClr val="1A1A1A"/>
                </a:solidFill>
                <a:latin typeface="Arial"/>
              </a:rPr>
              <a:t>  "informalidade" nem está definida para a pessoa</a:t>
            </a:r>
          </a:p>
          <a:p>
            <a:pPr algn="l">
              <a:lnSpc>
                <a:spcPct val="120000"/>
              </a:lnSpc>
            </a:pPr>
            <a:r>
              <a:rPr sz="1080" b="0">
                <a:solidFill>
                  <a:srgbClr val="1A1A1A"/>
                </a:solidFill>
                <a:latin typeface="Arial"/>
              </a:rPr>
              <a:t>• Dos 2.522.338 ocupados, 47,6% são informais pela regra ao lado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1928" y="3794760"/>
            <a:ext cx="5230368" cy="2450592"/>
          </a:xfrm>
          <a:prstGeom prst="roundRect">
            <a:avLst>
              <a:gd name="adj" fmla="val 6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977640"/>
            <a:ext cx="4773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60">
                <a:solidFill>
                  <a:srgbClr val="B50020"/>
                </a:solidFill>
                <a:latin typeface="Arial"/>
              </a:rPr>
              <a:t>OBS: O QUE É "INFORMAL" AQUI?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416552"/>
            <a:ext cx="477316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Sem carteira assinada (privado, doméstico ou público), OU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trabalhador familiar sem remuneração, OU empregador/conta-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própria sem CNPJ.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577840"/>
            <a:ext cx="47731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>
                <a:solidFill>
                  <a:srgbClr val="6E6E6E"/>
                </a:solidFill>
                <a:latin typeface="Arial"/>
              </a:rPr>
              <a:t>Regra VD4009 do IBGE (com V4019 de desempate p/ empregador/conta-própria), a mesma que o IBGE usa em estudos oficiais de informalidade.</a:t>
            </a:r>
          </a:p>
        </p:txBody>
      </p:sp>
      <p:sp>
        <p:nvSpPr>
          <p:cNvPr id="36" name="Oval 35">
            <a:hlinkClick action="ppaction://hlinksldjump" r:id="rId3"/>
          </p:cNvPr>
          <p:cNvSpPr/>
          <p:nvPr/>
        </p:nvSpPr>
        <p:spPr>
          <a:xfrm>
            <a:off x="5413248" y="393192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37" name="Oval 36">
            <a:hlinkClick action="ppaction://hlinksldjump" r:id="rId4"/>
          </p:cNvPr>
          <p:cNvSpPr/>
          <p:nvPr/>
        </p:nvSpPr>
        <p:spPr>
          <a:xfrm>
            <a:off x="11009376" y="393192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verme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Arial"/>
              </a:rPr>
              <a:t>Análise Exploratória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6E6E6E"/>
                </a:solidFill>
                <a:latin typeface="Arial"/>
              </a:rPr>
              <a:t>Tamanho do negócio e vínculo temporário são os sinais mais fortes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6E6E6E"/>
                </a:solidFill>
                <a:latin typeface="Arial"/>
              </a:rPr>
              <a:t>InformalidadeBR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06 / 12</a:t>
            </a:r>
          </a:p>
        </p:txBody>
      </p:sp>
      <p:pic>
        <p:nvPicPr>
          <p:cNvPr id="9" name="Picture 8" descr="fig_eda_top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6949440" cy="33718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2440" y="21488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6E6E6E"/>
                </a:solidFill>
                <a:latin typeface="Arial"/>
              </a:rPr>
              <a:t>FORÇA DE ASSOCIAÇÃO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5146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E6E"/>
                </a:solidFill>
                <a:latin typeface="Arial"/>
              </a:rPr>
              <a:t>com a condição de informalidade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200400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6E6E"/>
                </a:solidFill>
                <a:latin typeface="Arial"/>
              </a:rPr>
              <a:t>V de Cramér / ponto-bisserial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65760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3657600"/>
            <a:ext cx="54864" cy="169164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3794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A1A1A"/>
                </a:solidFill>
                <a:latin typeface="Arial"/>
              </a:rPr>
              <a:t>O TRABALHADOR INFORMAL, EM NÚMEROS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4187952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0">
                <a:solidFill>
                  <a:srgbClr val="1A1A1A"/>
                </a:solidFill>
                <a:latin typeface="Arial"/>
              </a:rPr>
              <a:t>53% não concluíram o ensino médio (25% entre os formais)</a:t>
            </a:r>
          </a:p>
          <a:p>
            <a:pPr algn="l">
              <a:lnSpc>
                <a:spcPct val="125000"/>
              </a:lnSpc>
            </a:pPr>
            <a:r>
              <a:rPr sz="1080" b="0">
                <a:solidFill>
                  <a:srgbClr val="1A1A1A"/>
                </a:solidFill>
                <a:latin typeface="Arial"/>
              </a:rPr>
              <a:t>35% moram no Nordeste (20% entre os formais)</a:t>
            </a:r>
          </a:p>
          <a:p>
            <a:pPr algn="l">
              <a:lnSpc>
                <a:spcPct val="125000"/>
              </a:lnSpc>
            </a:pPr>
            <a:r>
              <a:rPr sz="1080" b="0">
                <a:solidFill>
                  <a:srgbClr val="1A1A1A"/>
                </a:solidFill>
                <a:latin typeface="Arial"/>
              </a:rPr>
              <a:t>Renda mediana 42% menor: R$ 1.400 x R$ 2.400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486400"/>
            <a:ext cx="10817352" cy="77724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8961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70">
                <a:solidFill>
                  <a:srgbClr val="EB0029"/>
                </a:solidFill>
                <a:latin typeface="Arial"/>
              </a:rPr>
              <a:t>DECISÃO DE VARIÁVEIS, A MAIS DIFÍCIL DO PROJETO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15584"/>
            <a:ext cx="8869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Das quase 420 variáveis da PNAD, 22 entraram no pré-processamento por relevância direta. Dessas, 15 seguiram para o modelo: 2 delas (sexo e raça) por escopo obrigatório do projeto, não por força estatística.</a:t>
            </a:r>
          </a:p>
        </p:txBody>
      </p:sp>
      <p:sp>
        <p:nvSpPr>
          <p:cNvPr id="20" name="Oval 19">
            <a:hlinkClick action="ppaction://hlinksldjump" r:id="rId4"/>
          </p:cNvPr>
          <p:cNvSpPr/>
          <p:nvPr/>
        </p:nvSpPr>
        <p:spPr>
          <a:xfrm>
            <a:off x="11082528" y="3730752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21" name="Oval 20">
            <a:hlinkClick action="ppaction://hlinksldjump" r:id="rId5"/>
          </p:cNvPr>
          <p:cNvSpPr/>
          <p:nvPr/>
        </p:nvSpPr>
        <p:spPr>
          <a:xfrm>
            <a:off x="11000232" y="569214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verme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Arial"/>
              </a:rPr>
              <a:t>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6E6E6E"/>
                </a:solidFill>
                <a:latin typeface="Arial"/>
              </a:rPr>
              <a:t>Um pipeline completo, do dado bruto à predição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6E6E6E"/>
                </a:solidFill>
                <a:latin typeface="Arial"/>
              </a:rPr>
              <a:t>InformalidadeBR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07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52344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B0029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136392"/>
            <a:ext cx="1353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Arial"/>
              </a:rPr>
              <a:t>Ingestão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76856" y="3108960"/>
            <a:ext cx="146304" cy="365760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41448" y="26060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1448" y="2752344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B0029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1176" y="3136392"/>
            <a:ext cx="1353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Arial"/>
              </a:rPr>
              <a:t>Pré-
processamento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32504" y="3108960"/>
            <a:ext cx="146304" cy="365760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97096" y="26060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2752344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B0029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3136392"/>
            <a:ext cx="1353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Arial"/>
              </a:rPr>
              <a:t>Transformação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788152" y="3108960"/>
            <a:ext cx="146304" cy="365760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52744" y="26060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52744" y="2752344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B0029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3136392"/>
            <a:ext cx="1353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Arial"/>
              </a:rPr>
              <a:t>Análise
exploratória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543800" y="3108960"/>
            <a:ext cx="146304" cy="365760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08392" y="26060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8392" y="2752344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136392"/>
            <a:ext cx="1353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Modelagem
&amp; ML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299448" y="3108960"/>
            <a:ext cx="146304" cy="365760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64040" y="26060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2752344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B0029"/>
                </a:solidFill>
                <a:latin typeface="Arial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3136392"/>
            <a:ext cx="1353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Arial"/>
              </a:rPr>
              <a:t>Interpretação
&amp; equidade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4348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6E6E6E"/>
                </a:solidFill>
                <a:latin typeface="Arial"/>
              </a:rPr>
              <a:t>FERRAMENTAS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8006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Python · pandas · scikit-learn · SHAP · arquitetura Medallion orientada a classes (`Etapa` → `Pipeline`), cada etapa executável isoladamente ou em cadeia.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verme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Arial"/>
              </a:rPr>
              <a:t>Modelagem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6E6E6E"/>
                </a:solidFill>
                <a:latin typeface="Arial"/>
              </a:rPr>
              <a:t>Três modelos avaliados sob a mesma regra de validação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6E6E6E"/>
                </a:solidFill>
                <a:latin typeface="Arial"/>
              </a:rPr>
              <a:t>InformalidadeBR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08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3401568" cy="196596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54864" cy="196596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30428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A1A1A"/>
                </a:solidFill>
                <a:latin typeface="Arial"/>
              </a:rPr>
              <a:t>Regressão Logística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43200"/>
            <a:ext cx="29443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E6E"/>
                </a:solidFill>
                <a:latin typeface="Arial"/>
              </a:rPr>
              <a:t>Baseline interpretável. Coeficiente de cada variável é direto de explicar, sanity check dos outros dois.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03120"/>
            <a:ext cx="3401568" cy="196596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103120"/>
            <a:ext cx="54864" cy="196596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30428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A1A1A"/>
                </a:solidFill>
                <a:latin typeface="Arial"/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743200"/>
            <a:ext cx="29443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E6E"/>
                </a:solidFill>
                <a:latin typeface="Arial"/>
              </a:rPr>
              <a:t>Robusto, custo controlado por amostra por árvore. Ainda assim, o mais lento dos três em treino.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103120"/>
            <a:ext cx="3401568" cy="196596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2103120"/>
            <a:ext cx="54864" cy="196596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230428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A1A1A"/>
                </a:solidFill>
                <a:latin typeface="Arial"/>
              </a:rPr>
              <a:t>HistGradientBoosting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743200"/>
            <a:ext cx="29443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E6E"/>
                </a:solidFill>
                <a:latin typeface="Arial"/>
              </a:rPr>
              <a:t>Lida nativamente com categórica e valor nulo. É também o mais rápido dos dois modelos fortes.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3484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177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B50020"/>
                </a:solidFill>
                <a:latin typeface="Arial"/>
              </a:rPr>
              <a:t>SPLIT
TEMPORAL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590288"/>
            <a:ext cx="7680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1A"/>
                </a:solidFill>
                <a:latin typeface="Arial"/>
              </a:rPr>
              <a:t>Treino: 2023–2024  →  Teste: 2025 completo. Nunca ao acaso: a PNAD é um painel rotativo, e um split aleatório vazaria a mesma pessoa entre treino e teste.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verme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Arial"/>
              </a:rPr>
              <a:t>Interpretabilidade e Equidade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6E6E6E"/>
                </a:solidFill>
                <a:latin typeface="Arial"/>
              </a:rPr>
              <a:t>O modelo é interpretável, e isso expôs uma desigualdade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6E6E6E"/>
                </a:solidFill>
                <a:latin typeface="Arial"/>
              </a:rPr>
              <a:t>InformalidadeBR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09 / 12</a:t>
            </a:r>
          </a:p>
        </p:txBody>
      </p:sp>
      <p:pic>
        <p:nvPicPr>
          <p:cNvPr id="9" name="Picture 8" descr="fig_shap_top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1680"/>
            <a:ext cx="6309360" cy="30612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2578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E6E6E"/>
                </a:solidFill>
                <a:latin typeface="Arial"/>
              </a:rPr>
              <a:t>SHAP: o que mais pesou na decisão do modelo campeão</a:t>
            </a:r>
          </a:p>
        </p:txBody>
      </p:sp>
      <p:pic>
        <p:nvPicPr>
          <p:cNvPr id="11" name="Picture 10" descr="fig_equid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965960"/>
            <a:ext cx="2656141" cy="2880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269480" y="5074920"/>
            <a:ext cx="4251960" cy="1234440"/>
          </a:xfrm>
          <a:prstGeom prst="roundRect">
            <a:avLst>
              <a:gd name="adj" fmla="val 6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230368"/>
            <a:ext cx="3840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B50020"/>
                </a:solidFill>
                <a:latin typeface="Arial"/>
              </a:rPr>
              <a:t>Recall 12 p.p. menor para o grupo Amarelos (n = 4.214): um sinal de atenção real, registrado no Model Card, não motivo para descartar o modelo.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verme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Arial"/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6E6E6E"/>
                </a:solidFill>
                <a:latin typeface="Arial"/>
              </a:rPr>
              <a:t>92,6% de AUC-ROC no ano que o modelo nunca viu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6E6E6E"/>
                </a:solidFill>
                <a:latin typeface="Arial"/>
              </a:rPr>
              <a:t>InformalidadeBR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10 /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874519"/>
          <a:ext cx="10817352" cy="141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345692"/>
                <a:gridCol w="1345692"/>
                <a:gridCol w="1345692"/>
                <a:gridCol w="1345692"/>
                <a:gridCol w="1345692"/>
                <a:gridCol w="1345692"/>
              </a:tblGrid>
              <a:tr h="354330"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AUC-ROC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Tempo (s)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</a:tr>
              <a:tr h="354330">
                <a:tc>
                  <a:txBody>
                    <a:bodyPr wrap="non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HistGradientBoosting</a:t>
                      </a:r>
                    </a:p>
                  </a:txBody>
                  <a:tcPr anchor="ctr" marL="73152" marR="73152" marT="18288" marB="18288">
                    <a:solidFill>
                      <a:srgbClr val="EB00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0.8474</a:t>
                      </a:r>
                    </a:p>
                  </a:txBody>
                  <a:tcPr anchor="ctr" marL="73152" marR="73152" marT="18288" marB="18288">
                    <a:solidFill>
                      <a:srgbClr val="EB00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0.8384</a:t>
                      </a:r>
                    </a:p>
                  </a:txBody>
                  <a:tcPr anchor="ctr" marL="73152" marR="73152" marT="18288" marB="18288">
                    <a:solidFill>
                      <a:srgbClr val="EB00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0.8360</a:t>
                      </a:r>
                    </a:p>
                  </a:txBody>
                  <a:tcPr anchor="ctr" marL="73152" marR="73152" marT="18288" marB="18288">
                    <a:solidFill>
                      <a:srgbClr val="EB00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0.8372</a:t>
                      </a:r>
                    </a:p>
                  </a:txBody>
                  <a:tcPr anchor="ctr" marL="73152" marR="73152" marT="18288" marB="18288">
                    <a:solidFill>
                      <a:srgbClr val="EB00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0.9261</a:t>
                      </a:r>
                    </a:p>
                  </a:txBody>
                  <a:tcPr anchor="ctr" marL="73152" marR="73152" marT="18288" marB="18288">
                    <a:solidFill>
                      <a:srgbClr val="EB00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178.70</a:t>
                      </a:r>
                    </a:p>
                  </a:txBody>
                  <a:tcPr anchor="ctr" marL="73152" marR="73152" marT="18288" marB="18288">
                    <a:solidFill>
                      <a:srgbClr val="EB0029"/>
                    </a:solidFill>
                  </a:tcPr>
                </a:tc>
              </a:tr>
              <a:tr h="354330">
                <a:tc>
                  <a:txBody>
                    <a:bodyPr wrap="non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0.8355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0.8123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0.8446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0.8281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0.9166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2171.53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non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Regressão Logística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0.8259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0.7995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0.8397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0.8191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0.9011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41.67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352044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Arial"/>
              </a:rPr>
              <a:t>HistGradientBoosting é o campeão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7223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Arial"/>
              </a:rPr>
              <a:t>De cada 100 trabalhadores informais reais no teste, o modelo identifica corretamente 84, com a mesma performance em treino e teste, sem overfitting. É também o mais rápido dos dois modelos fortes: 179s de treino contra 2.172s (36 min) do Random Forest, 12 vezes mais lento por um ganho de apenas 0,9 ponto de AUC. Tempo de treino também é custo de engenharia, não só de máquina.</a:t>
            </a:r>
          </a:p>
        </p:txBody>
      </p:sp>
      <p:pic>
        <p:nvPicPr>
          <p:cNvPr id="12" name="Picture 11" descr="fig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520440"/>
            <a:ext cx="3017520" cy="27334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13064" y="1453896"/>
            <a:ext cx="237744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spc="40">
                <a:solidFill>
                  <a:srgbClr val="6E6E6E"/>
                </a:solidFill>
                <a:latin typeface="Arial"/>
              </a:rPr>
              <a:t>MATRIZES DE CONFUSÃO</a:t>
            </a:r>
          </a:p>
        </p:txBody>
      </p:sp>
      <p:sp>
        <p:nvSpPr>
          <p:cNvPr id="14" name="Oval 13">
            <a:hlinkClick action="ppaction://hlinksldjump" r:id="rId4"/>
          </p:cNvPr>
          <p:cNvSpPr/>
          <p:nvPr/>
        </p:nvSpPr>
        <p:spPr>
          <a:xfrm>
            <a:off x="11000232" y="137160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verme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Arial"/>
              </a:rPr>
              <a:t>Conclusão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6E6E6E"/>
                </a:solidFill>
                <a:latin typeface="Arial"/>
              </a:rPr>
              <a:t>Sobre o modelo, e sobre o problema que ele tenta resolver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6E6E6E"/>
                </a:solidFill>
                <a:latin typeface="Arial"/>
              </a:rPr>
              <a:t>InformalidadeBR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10287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B50020"/>
                </a:solidFill>
                <a:latin typeface="Arial"/>
              </a:rPr>
              <a:t>A informalidade não é um detalhe estatístico: é quase metade do mercado de trabalho brasileiro, distribuída de forma desigual entre região, setor e cor. Foi esse padrão que motivou todo o projeto.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80360"/>
            <a:ext cx="5257800" cy="301752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10">
                <a:solidFill>
                  <a:srgbClr val="EB0029"/>
                </a:solidFill>
                <a:latin typeface="Arial"/>
              </a:rPr>
              <a:t>O QUE FUNCIONOU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4709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Arial"/>
              </a:rPr>
              <a:t>• Pipeline reprodutível ponta a ponta, do dado bruto do IBGE até uma predição interpretável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Arial"/>
              </a:rPr>
              <a:t>• Modelo com bom poder preditivo (AUC 0,93) e sem overfitting relevante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Arial"/>
              </a:rPr>
              <a:t>• Interpretabilidade real via SHAP, não uma caixa-preta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880360"/>
            <a:ext cx="5257800" cy="3017520"/>
          </a:xfrm>
          <a:prstGeom prst="roundRect">
            <a:avLst>
              <a:gd name="adj" fmla="val 6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1089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10">
                <a:solidFill>
                  <a:srgbClr val="B50020"/>
                </a:solidFill>
                <a:latin typeface="Arial"/>
              </a:rPr>
              <a:t>PRÓXIMOS PASSOS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566160"/>
            <a:ext cx="4709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Arial"/>
              </a:rPr>
              <a:t>• Corrigir a disparidade de recall no grupo Amarelos (reponderação ou threshold por grupo)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Arial"/>
              </a:rPr>
              <a:t>• Usar o peso amostral da PNAD (V1028) na avaliação, hoje em aberto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Arial"/>
              </a:rPr>
              <a:t>• Monitorar novas safras trimestrais e o ganho marginal do campeão frente ao Random Forest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CK_horizontal_branca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640"/>
            <a:ext cx="1463040" cy="5853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46888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Arial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20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Arial"/>
              </a:rPr>
              <a:t>Perguntas?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029200"/>
            <a:ext cx="3840480" cy="13970"/>
          </a:xfrm>
          <a:prstGeom prst="rect">
            <a:avLst/>
          </a:prstGeom>
          <a:solidFill>
            <a:srgbClr val="FF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21208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Jefferson Aparecido Nunes Lopes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Guilherme Ramon Santos Camargo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Bruno Roberto Muniz Cabral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335" y="630936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FFD8DD"/>
                </a:solidFill>
                <a:latin typeface="Arial"/>
              </a:rPr>
              <a:t>github.com/gui-ramon/pipeline-hands-on-engenharia-de-dados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pret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50">
                <a:solidFill>
                  <a:srgbClr val="6E6E6E"/>
                </a:solidFill>
                <a:latin typeface="Arial"/>
              </a:rPr>
              <a:t>MATERIAL DE APOIO ·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A1A1A"/>
                </a:solidFill>
                <a:latin typeface="Arial"/>
              </a:rPr>
              <a:t>O funil completo: de 12 arquivos brutos a 2,52M de pessoas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InformalidadeBR: apoio para perguntas (fora dos 10 min)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429000" cy="365760"/>
          </a:xfrm>
          <a:prstGeom prst="roundRect">
            <a:avLst>
              <a:gd name="adj" fmla="val 6000"/>
            </a:avLst>
          </a:prstGeom>
          <a:solidFill>
            <a:srgbClr val="CD7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spc="100">
                <a:solidFill>
                  <a:srgbClr val="FFFFFF"/>
                </a:solidFill>
                <a:latin typeface="Arial"/>
              </a:rP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84832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Arial"/>
              </a:rPr>
              <a:t>12 arquivos, ~19 GB brutos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429000" cy="365760"/>
          </a:xfrm>
          <a:prstGeom prst="roundRect">
            <a:avLst>
              <a:gd name="adj" fmla="val 6000"/>
            </a:avLst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09928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spc="100">
                <a:solidFill>
                  <a:srgbClr val="FFFFFF"/>
                </a:solidFill>
                <a:latin typeface="Arial"/>
              </a:rPr>
              <a:t>SILVER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84832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Arial"/>
              </a:rPr>
              <a:t>5.748.375 linhas decodificadas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645920"/>
            <a:ext cx="3429000" cy="365760"/>
          </a:xfrm>
          <a:prstGeom prst="roundRect">
            <a:avLst>
              <a:gd name="adj" fmla="val 6000"/>
            </a:avLst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709928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spc="100">
                <a:solidFill>
                  <a:srgbClr val="FFFFFF"/>
                </a:solidFill>
                <a:latin typeface="Arial"/>
              </a:rPr>
              <a:t>GOLD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084832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Arial"/>
              </a:rPr>
              <a:t>2.522.338 ocupados (43,9%)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60">
                <a:solidFill>
                  <a:srgbClr val="6E6E6E"/>
                </a:solidFill>
                <a:latin typeface="Arial"/>
              </a:rPr>
              <a:t>De onde vêm os 2,52 milhões de pessoas ocupadas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" y="2880360"/>
          <a:ext cx="1081735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1744218"/>
                <a:gridCol w="1744218"/>
                <a:gridCol w="1744218"/>
                <a:gridCol w="1744218"/>
              </a:tblGrid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Grupo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% da base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Idade média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% mulheres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Menores de 14 anos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1.026.870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6,9 anos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48,8%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Fora da força de trabalho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2.022.961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49,0 anos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64,1%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Desocupados, buscando trabalho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176.206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32,9 anos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53,0%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Ocupados (população do projeto)</a:t>
                      </a:r>
                    </a:p>
                  </a:txBody>
                  <a:tcPr anchor="ctr" marL="73152" marR="73152" marT="18288" marB="18288">
                    <a:solidFill>
                      <a:srgbClr val="EB00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2.522.338</a:t>
                      </a:r>
                    </a:p>
                  </a:txBody>
                  <a:tcPr anchor="ctr" marL="73152" marR="73152" marT="18288" marB="18288">
                    <a:solidFill>
                      <a:srgbClr val="EB00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anchor="ctr" marL="73152" marR="73152" marT="18288" marB="18288">
                    <a:solidFill>
                      <a:srgbClr val="EB00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40,9 anos</a:t>
                      </a:r>
                    </a:p>
                  </a:txBody>
                  <a:tcPr anchor="ctr" marL="73152" marR="73152" marT="18288" marB="18288">
                    <a:solidFill>
                      <a:srgbClr val="EB00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anchor="ctr" marL="73152" marR="73152" marT="18288" marB="18288">
                    <a:solidFill>
                      <a:srgbClr val="EB0029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85800" y="502920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378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B50020"/>
                </a:solidFill>
                <a:latin typeface="Arial"/>
              </a:rPr>
              <a:t>O grupo fora da força de trabalho tem 64% de mulheres, e os desocupados buscando emprego, 53%. Os dois acima do 43% entre ocupados: quem decide entrar no mercado de trabalho já não é uma amostra aleatória da população.</a:t>
            </a:r>
          </a:p>
        </p:txBody>
      </p:sp>
      <p:sp>
        <p:nvSpPr>
          <p:cNvPr id="21" name="Oval 20">
            <a:hlinkClick action="ppaction://hlinkshowjump?jump=lastslideviewed"/>
          </p:cNvPr>
          <p:cNvSpPr/>
          <p:nvPr/>
        </p:nvSpPr>
        <p:spPr>
          <a:xfrm>
            <a:off x="685800" y="73152"/>
            <a:ext cx="402336" cy="402336"/>
          </a:xfrm>
          <a:prstGeom prst="ellipse">
            <a:avLst/>
          </a:prstGeom>
          <a:solidFill>
            <a:srgbClr val="FAF9F8"/>
          </a:solidFill>
          <a:ln w="1270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>
            <a:hlinkClick action="ppaction://hlinkshowjump?jump=lastslideviewed"/>
          </p:cNvPr>
          <p:cNvSpPr/>
          <p:nvPr/>
        </p:nvSpPr>
        <p:spPr>
          <a:xfrm>
            <a:off x="777240" y="137160"/>
            <a:ext cx="219456" cy="118872"/>
          </a:xfrm>
          <a:prstGeom prst="triangl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>
            <a:hlinkClick action="ppaction://hlinkshowjump?jump=lastslideviewed"/>
          </p:cNvPr>
          <p:cNvSpPr/>
          <p:nvPr/>
        </p:nvSpPr>
        <p:spPr>
          <a:xfrm>
            <a:off x="813816" y="246888"/>
            <a:ext cx="146304" cy="118872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pret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50">
                <a:solidFill>
                  <a:srgbClr val="6E6E6E"/>
                </a:solidFill>
                <a:latin typeface="Arial"/>
              </a:rPr>
              <a:t>MATERIAL DE APOIO · CONCEITO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A1A1A"/>
                </a:solidFill>
                <a:latin typeface="Arial"/>
              </a:rPr>
              <a:t>A regra completa de informalidade (VD4009 + V4019)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InformalidadeBR: apoio para perguntas (fora dos 10 min)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828800"/>
          <a:ext cx="10817352" cy="379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/>
                <a:gridCol w="4905756"/>
                <a:gridCol w="4905756"/>
              </a:tblGrid>
              <a:tr h="34497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VD4009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Categoria (posição na ocupação)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Classificação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</a:tr>
              <a:tr h="34497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Empregado no setor privado, com carteira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Formal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34497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Empregado no setor privado, sem carteira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Informal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Trabalhador doméstico, com carteira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Formal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34497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Trabalhador doméstico, sem carteira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Informal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Empregado no setor público, com carteira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Formal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34497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Empregado no setor público, sem carteira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Informal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Militar / servidor estatutário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Formal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34497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Empregador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Formal se tem CNPJ (V4019), senão Informal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Conta-própria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Formal se tem CNPJ (V4019), senão Informal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3449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Trabalhador familiar auxiliar (não remunerado)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Informal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6E6E"/>
                </a:solidFill>
                <a:latin typeface="Arial"/>
              </a:rPr>
              <a:t>Alternativa mais simples considerada (não usada): VD4012 (contribui para a previdência?) como proxy binário direto, descartada por perder o refinamento de CNPJ em 8/9.</a:t>
            </a:r>
          </a:p>
        </p:txBody>
      </p:sp>
      <p:sp>
        <p:nvSpPr>
          <p:cNvPr id="10" name="Oval 9">
            <a:hlinkClick action="ppaction://hlinkshowjump?jump=lastslideviewed"/>
          </p:cNvPr>
          <p:cNvSpPr/>
          <p:nvPr/>
        </p:nvSpPr>
        <p:spPr>
          <a:xfrm>
            <a:off x="685800" y="73152"/>
            <a:ext cx="402336" cy="402336"/>
          </a:xfrm>
          <a:prstGeom prst="ellipse">
            <a:avLst/>
          </a:prstGeom>
          <a:solidFill>
            <a:srgbClr val="FAF9F8"/>
          </a:solidFill>
          <a:ln w="1270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>
            <a:hlinkClick action="ppaction://hlinkshowjump?jump=lastslideviewed"/>
          </p:cNvPr>
          <p:cNvSpPr/>
          <p:nvPr/>
        </p:nvSpPr>
        <p:spPr>
          <a:xfrm>
            <a:off x="777240" y="137160"/>
            <a:ext cx="219456" cy="118872"/>
          </a:xfrm>
          <a:prstGeom prst="triangl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>
            <a:hlinkClick action="ppaction://hlinkshowjump?jump=lastslideviewed"/>
          </p:cNvPr>
          <p:cNvSpPr/>
          <p:nvPr/>
        </p:nvSpPr>
        <p:spPr>
          <a:xfrm>
            <a:off x="813816" y="246888"/>
            <a:ext cx="146304" cy="118872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pret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50">
                <a:solidFill>
                  <a:srgbClr val="6E6E6E"/>
                </a:solidFill>
                <a:latin typeface="Arial"/>
              </a:rPr>
              <a:t>MATERIAL DE APOIO ·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A1A1A"/>
                </a:solidFill>
                <a:latin typeface="Arial"/>
              </a:rPr>
              <a:t>Por que essas 15 variáveis, e não as outras 405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InformalidadeBR: apoio para perguntas (fora dos 10 min)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83080"/>
          <a:ext cx="6720840" cy="416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2903220"/>
                <a:gridCol w="2903220"/>
              </a:tblGrid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Var.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 que é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Força (V de Cramér / |r|)</a:t>
                      </a:r>
                    </a:p>
                  </a:txBody>
                  <a:tcPr anchor="ctr" marL="73152" marR="73152" marT="18288" marB="18288">
                    <a:solidFill>
                      <a:srgbClr val="1A1A1A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V4018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Tamanho do negócio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0.570 forte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V4025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É temporário?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0.460 forte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VD4010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Setor de atividade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0.404 forte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VD4011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Grupamento ocupacional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0.373 forte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VD3004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Nível de instrução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0.325 moderada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VD4031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Horas semanais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0.272 moderada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V1022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Urbano / rural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0.255 moderada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UF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Estado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0.243 moderada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V4040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Tempo no emprego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0.144 fraca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V1023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Tipo de área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0.135 fraca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V2010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Raça / cor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0.118 fraca (obrigatória RF-06)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VD2002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Posição no domicílio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0.042 muito fraca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V2009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Idade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0.042 muito fraca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  <a:tr h="26003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VD2003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Pessoas no domicílio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0.030 muito fraca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6004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V2007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Sexo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0.026 fraca (obrigatória RF-06)</a:t>
                      </a:r>
                    </a:p>
                  </a:txBody>
                  <a:tcPr anchor="ctr" marL="73152" marR="73152" marT="18288" marB="18288">
                    <a:solidFill>
                      <a:srgbClr val="FAF9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1783080"/>
            <a:ext cx="3886200" cy="416052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783080"/>
            <a:ext cx="54864" cy="4160520"/>
          </a:xfrm>
          <a:prstGeom prst="rect">
            <a:avLst/>
          </a:prstGeom>
          <a:solidFill>
            <a:srgbClr val="E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2" y="1984248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A1A1A"/>
                </a:solidFill>
                <a:latin typeface="Arial"/>
              </a:rPr>
              <a:t>O que ficou de fora, e por quê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2" y="2423160"/>
            <a:ext cx="342900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E6E6E"/>
                </a:solidFill>
                <a:latin typeface="Arial"/>
              </a:rPr>
              <a:t>VD4009/V4019/VD4012/VD4002: constroem o próprio alvo (vazamento). VD4016/VD4017 (renda): vazamento circular, só usadas em gráfico de EDA. V3002 (frequenta escola): associação quase nula (0,003). UPA/V1008/V1014/V2003: só chave de deduplicação, sem relação causal. V1028 (peso amostral): reservado, não é feature. Ano/Trimestre: vazariam o split temporal.</a:t>
            </a:r>
          </a:p>
        </p:txBody>
      </p:sp>
      <p:sp>
        <p:nvSpPr>
          <p:cNvPr id="13" name="Oval 12">
            <a:hlinkClick action="ppaction://hlinkshowjump?jump=lastslideviewed"/>
          </p:cNvPr>
          <p:cNvSpPr/>
          <p:nvPr/>
        </p:nvSpPr>
        <p:spPr>
          <a:xfrm>
            <a:off x="685800" y="73152"/>
            <a:ext cx="402336" cy="402336"/>
          </a:xfrm>
          <a:prstGeom prst="ellipse">
            <a:avLst/>
          </a:prstGeom>
          <a:solidFill>
            <a:srgbClr val="FAF9F8"/>
          </a:solidFill>
          <a:ln w="1270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>
            <a:hlinkClick action="ppaction://hlinkshowjump?jump=lastslideviewed"/>
          </p:cNvPr>
          <p:cNvSpPr/>
          <p:nvPr/>
        </p:nvSpPr>
        <p:spPr>
          <a:xfrm>
            <a:off x="777240" y="137160"/>
            <a:ext cx="219456" cy="118872"/>
          </a:xfrm>
          <a:prstGeom prst="triangl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>
            <a:hlinkClick action="ppaction://hlinkshowjump?jump=lastslideviewed"/>
          </p:cNvPr>
          <p:cNvSpPr/>
          <p:nvPr/>
        </p:nvSpPr>
        <p:spPr>
          <a:xfrm>
            <a:off x="813816" y="246888"/>
            <a:ext cx="146304" cy="118872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pret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50">
                <a:solidFill>
                  <a:srgbClr val="6E6E6E"/>
                </a:solidFill>
                <a:latin typeface="Arial"/>
              </a:rPr>
              <a:t>MATERIAL DE APOIO ·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A1A1A"/>
                </a:solidFill>
                <a:latin typeface="Arial"/>
              </a:rPr>
              <a:t>Matrizes de confusão: teste 2025, base completa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InformalidadeBR: apoio para perguntas (fora dos 10 min)</a:t>
            </a:r>
          </a:p>
        </p:txBody>
      </p:sp>
      <p:pic>
        <p:nvPicPr>
          <p:cNvPr id="8" name="Picture 7" descr="fig_confu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74519"/>
            <a:ext cx="10515600" cy="35107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6692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Arial"/>
              </a:rPr>
              <a:t>864.940 pessoas no teste. Falso negativo (informal previsto como formal) é o erro mais custoso para o objetivo do projeto: subestima o tamanho real da informalidade.</a:t>
            </a:r>
          </a:p>
        </p:txBody>
      </p:sp>
      <p:sp>
        <p:nvSpPr>
          <p:cNvPr id="10" name="Oval 9">
            <a:hlinkClick action="ppaction://hlinkshowjump?jump=lastslideviewed"/>
          </p:cNvPr>
          <p:cNvSpPr/>
          <p:nvPr/>
        </p:nvSpPr>
        <p:spPr>
          <a:xfrm>
            <a:off x="685800" y="73152"/>
            <a:ext cx="402336" cy="402336"/>
          </a:xfrm>
          <a:prstGeom prst="ellipse">
            <a:avLst/>
          </a:prstGeom>
          <a:solidFill>
            <a:srgbClr val="FAF9F8"/>
          </a:solidFill>
          <a:ln w="1270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>
            <a:hlinkClick action="ppaction://hlinkshowjump?jump=lastslideviewed"/>
          </p:cNvPr>
          <p:cNvSpPr/>
          <p:nvPr/>
        </p:nvSpPr>
        <p:spPr>
          <a:xfrm>
            <a:off x="777240" y="137160"/>
            <a:ext cx="219456" cy="118872"/>
          </a:xfrm>
          <a:prstGeom prst="triangl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>
            <a:hlinkClick action="ppaction://hlinkshowjump?jump=lastslideviewed"/>
          </p:cNvPr>
          <p:cNvSpPr/>
          <p:nvPr/>
        </p:nvSpPr>
        <p:spPr>
          <a:xfrm>
            <a:off x="813816" y="246888"/>
            <a:ext cx="146304" cy="118872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CK_horizontal_pret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457200"/>
            <a:ext cx="1234440" cy="49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50">
                <a:solidFill>
                  <a:srgbClr val="6E6E6E"/>
                </a:solidFill>
                <a:latin typeface="Arial"/>
              </a:rPr>
              <a:t>MATERIAL DE APOIO · ANÁLISE EXPLORATÓRIA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A1A1A"/>
                </a:solidFill>
                <a:latin typeface="Arial"/>
              </a:rPr>
              <a:t>Sem instrução e agropecuária concentram a informalidade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E6E6E"/>
                </a:solidFill>
                <a:latin typeface="Arial"/>
              </a:rPr>
              <a:t>InformalidadeBR: apoio para perguntas (fora dos 10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817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Arial"/>
              </a:rPr>
              <a:t>Cada barra mostra quantas vezes a categoria é mais comum num grupo do que no outro (escala logarítmica). Cor só nos 3 casos mais extremos — o resto fica em cinza, perto do equilíbrio (linha central = 1x).</a:t>
            </a:r>
          </a:p>
        </p:txBody>
      </p:sp>
      <p:pic>
        <p:nvPicPr>
          <p:cNvPr id="9" name="Picture 8" descr="fig_eda_ind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6263640" cy="43753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69480" y="1783080"/>
            <a:ext cx="4233672" cy="1280160"/>
          </a:xfrm>
          <a:prstGeom prst="roundRect">
            <a:avLst>
              <a:gd name="adj" fmla="val 6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1883664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EB0029"/>
                </a:solidFill>
                <a:latin typeface="Arial"/>
              </a:rPr>
              <a:t>5,0x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514600"/>
            <a:ext cx="3776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mais informalidade entre quem não tem instrução (5% dos informais, 1% dos formais)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200400"/>
            <a:ext cx="4233672" cy="1280160"/>
          </a:xfrm>
          <a:prstGeom prst="roundRect">
            <a:avLst>
              <a:gd name="adj" fmla="val 6000"/>
            </a:avLst>
          </a:prstGeom>
          <a:solidFill>
            <a:srgbClr val="FC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3300984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EB0029"/>
                </a:solidFill>
                <a:latin typeface="Arial"/>
              </a:rPr>
              <a:t>4,0x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3931920"/>
            <a:ext cx="3776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Arial"/>
              </a:rPr>
              <a:t>mais informalidade na agropecuária, pesca e aquicultura (24% x 6% entre os formais)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4617720"/>
            <a:ext cx="4233672" cy="1554480"/>
          </a:xfrm>
          <a:prstGeom prst="roundRect">
            <a:avLst>
              <a:gd name="adj" fmla="val 6000"/>
            </a:avLst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4709160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60">
                <a:solidFill>
                  <a:srgbClr val="6E6E6E"/>
                </a:solidFill>
                <a:latin typeface="Arial"/>
              </a:rPr>
              <a:t>RENDA MEDIANA</a:t>
            </a:r>
          </a:p>
        </p:txBody>
      </p:sp>
      <p:pic>
        <p:nvPicPr>
          <p:cNvPr id="18" name="Picture 17" descr="fig_eda_ren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956048"/>
            <a:ext cx="1920240" cy="533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98080" y="5577840"/>
            <a:ext cx="3776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Arial"/>
              </a:rPr>
              <a:t>Informal ganha 42% menos. Não entra no modelo: é consequência da informalidade, não causa.</a:t>
            </a:r>
          </a:p>
        </p:txBody>
      </p:sp>
      <p:sp>
        <p:nvSpPr>
          <p:cNvPr id="20" name="Oval 19">
            <a:hlinkClick action="ppaction://hlinkshowjump?jump=lastslideviewed"/>
          </p:cNvPr>
          <p:cNvSpPr/>
          <p:nvPr/>
        </p:nvSpPr>
        <p:spPr>
          <a:xfrm>
            <a:off x="685800" y="73152"/>
            <a:ext cx="402336" cy="402336"/>
          </a:xfrm>
          <a:prstGeom prst="ellipse">
            <a:avLst/>
          </a:prstGeom>
          <a:solidFill>
            <a:srgbClr val="FAF9F8"/>
          </a:solidFill>
          <a:ln w="1270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>
            <a:hlinkClick action="ppaction://hlinkshowjump?jump=lastslideviewed"/>
          </p:cNvPr>
          <p:cNvSpPr/>
          <p:nvPr/>
        </p:nvSpPr>
        <p:spPr>
          <a:xfrm>
            <a:off x="777240" y="137160"/>
            <a:ext cx="219456" cy="118872"/>
          </a:xfrm>
          <a:prstGeom prst="triangl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howjump?jump=lastslideviewed"/>
          </p:cNvPr>
          <p:cNvSpPr/>
          <p:nvPr/>
        </p:nvSpPr>
        <p:spPr>
          <a:xfrm>
            <a:off x="813816" y="246888"/>
            <a:ext cx="146304" cy="118872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